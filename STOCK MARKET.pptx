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grandir" panose="020B0604020202020204" charset="0"/>
      <p:regular r:id="rId15"/>
    </p:embeddedFont>
    <p:embeddedFont>
      <p:font typeface="Agrandir Bold" panose="020B0604020202020204" charset="0"/>
      <p:regular r:id="rId16"/>
    </p:embeddedFont>
    <p:embeddedFont>
      <p:font typeface="Bahnschrift SemiBold" panose="020B0502040204020203" pitchFamily="34" charset="0"/>
      <p:bold r:id="rId17"/>
    </p:embeddedFont>
    <p:embeddedFont>
      <p:font typeface="Open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C8C0F-33FD-4F89-A57C-D0CDB412A4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9926C-314F-47E3-AEF7-7FC5CE31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49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926C-314F-47E3-AEF7-7FC5CE3179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352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926C-314F-47E3-AEF7-7FC5CE31796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71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79926C-314F-47E3-AEF7-7FC5CE31796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6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20.png"/><Relationship Id="rId5" Type="http://schemas.openxmlformats.org/officeDocument/2006/relationships/image" Target="../media/image5.sv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92005" y="6591300"/>
            <a:ext cx="5348020" cy="3992914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-515018" y="-800100"/>
            <a:ext cx="4354538" cy="5128499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685800" y="3118121"/>
            <a:ext cx="17355218" cy="36970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76"/>
              </a:lnSpc>
            </a:pPr>
            <a:r>
              <a:rPr lang="en-IN" sz="9600" dirty="0">
                <a:solidFill>
                  <a:schemeClr val="bg1"/>
                </a:solidFill>
                <a:latin typeface="Agrandir Bold" panose="020B0604020202020204" charset="0"/>
              </a:rPr>
              <a:t>TRADING PERFORMANCE DASHBOARD</a:t>
            </a:r>
            <a:endParaRPr lang="en-US" sz="13997" b="1" dirty="0">
              <a:solidFill>
                <a:schemeClr val="bg1"/>
              </a:solidFill>
              <a:latin typeface="Agrandir Bold" panose="020B0604020202020204" charset="0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52072" y="8778875"/>
            <a:ext cx="4183857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9"/>
              </a:lnSpc>
            </a:pPr>
            <a:r>
              <a:rPr lang="en-US" sz="2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www.reallygreatsite.com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D8EE0-5929-E0CE-7EF6-8C43F7D260BE}"/>
              </a:ext>
            </a:extLst>
          </p:cNvPr>
          <p:cNvSpPr txBox="1"/>
          <p:nvPr/>
        </p:nvSpPr>
        <p:spPr>
          <a:xfrm>
            <a:off x="13335000" y="6750020"/>
            <a:ext cx="449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BY </a:t>
            </a:r>
            <a:r>
              <a:rPr lang="en-US" sz="4400" b="1" i="1" dirty="0">
                <a:solidFill>
                  <a:schemeClr val="bg1"/>
                </a:solidFill>
              </a:rPr>
              <a:t>NILOY SAHA</a:t>
            </a:r>
            <a:endParaRPr lang="en-IN" sz="4400" b="1" i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789D8-3CA1-3E7E-D94D-786F253F9CC1}"/>
              </a:ext>
            </a:extLst>
          </p:cNvPr>
          <p:cNvSpPr txBox="1"/>
          <p:nvPr/>
        </p:nvSpPr>
        <p:spPr>
          <a:xfrm>
            <a:off x="14612018" y="858775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USING POWER BI</a:t>
            </a:r>
            <a:endParaRPr lang="en-IN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56290" y="0"/>
            <a:ext cx="10935174" cy="10287000"/>
            <a:chOff x="0" y="0"/>
            <a:chExt cx="1270608" cy="1195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0608" cy="1195294"/>
            </a:xfrm>
            <a:custGeom>
              <a:avLst/>
              <a:gdLst/>
              <a:ahLst/>
              <a:cxnLst/>
              <a:rect l="l" t="t" r="r" b="b"/>
              <a:pathLst>
                <a:path w="1270608" h="1195294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34212" t="-2736" r="-36987" b="-1214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5400000">
            <a:off x="1349934" y="707466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7999634" y="7006216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34800" y="7955066"/>
            <a:ext cx="6693556" cy="2674834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21348" y="2637928"/>
            <a:ext cx="3991181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About this</a:t>
            </a:r>
          </a:p>
        </p:txBody>
      </p:sp>
      <p:sp>
        <p:nvSpPr>
          <p:cNvPr id="8" name="Freeform 8"/>
          <p:cNvSpPr/>
          <p:nvPr/>
        </p:nvSpPr>
        <p:spPr>
          <a:xfrm>
            <a:off x="4419600" y="1773687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21348" y="3327127"/>
            <a:ext cx="518759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1" dirty="0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0113" y="4832917"/>
            <a:ext cx="8195000" cy="407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This dashboard is designed to provide a clear, actionable, and data-driven view of trading performance.</a:t>
            </a:r>
          </a:p>
          <a:p>
            <a:pPr algn="l">
              <a:lnSpc>
                <a:spcPts val="2947"/>
              </a:lnSpc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It transforms raw trade data into meaningful insights that help identify what works, what doesn’t, and where profitability truly comes from.</a:t>
            </a:r>
          </a:p>
          <a:p>
            <a:pPr algn="l">
              <a:lnSpc>
                <a:spcPts val="2947"/>
              </a:lnSpc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The focus is not just on profit and loss, but on consistency, risk management, trade quality, and behavioral patterns over time.</a:t>
            </a:r>
          </a:p>
          <a:p>
            <a:pPr algn="l">
              <a:lnSpc>
                <a:spcPts val="2947"/>
              </a:lnSpc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By visualizing performance across days, weeks, trade types, and instruments, this dashboard enables better decision-making and strategy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optimizatio</a:t>
            </a: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54257" y="3177075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27334" y="2204888"/>
            <a:ext cx="11301259" cy="2020100"/>
          </a:xfrm>
          <a:custGeom>
            <a:avLst/>
            <a:gdLst/>
            <a:ahLst/>
            <a:cxnLst/>
            <a:rect l="l" t="t" r="r" b="b"/>
            <a:pathLst>
              <a:path w="11301259" h="2020100">
                <a:moveTo>
                  <a:pt x="0" y="0"/>
                </a:moveTo>
                <a:lnTo>
                  <a:pt x="11301259" y="0"/>
                </a:lnTo>
                <a:lnTo>
                  <a:pt x="11301259" y="2020100"/>
                </a:lnTo>
                <a:lnTo>
                  <a:pt x="0" y="2020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349058" y="1445944"/>
            <a:ext cx="4909853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Over view of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7738" y="2128688"/>
            <a:ext cx="5187592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00665" y="4751217"/>
            <a:ext cx="14867708" cy="40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Total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(45.78K) reflects the final profitability after all costs, showing strong overall performance.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Total Gross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(51.21K) highlights the raw earning potential before fees, confirming a profitable edge in the strategy.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Total Fees (5.44K) indicate transaction and execution costs, helping evaluate cost efficiency.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Total Trades (1K) across 3 trading sessions and 5 symbols show diversified and active participation in the market.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Average Stop-Loss (41.91 pips) demonstrates controlled downside exposure per trade.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Maximum Risk-Reward (3.19) shows the best risk efficiency achieved.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Average Actual Risk-Reward (2.22) confirms consistent positive expectancy.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Average Risk % (1.25%) reflects disciplined risk management and capital protection.</a:t>
            </a: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95801" y="4082750"/>
            <a:ext cx="5187592" cy="61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1234" y="8873524"/>
            <a:ext cx="14867708" cy="110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metrics indicate a well-balanced trading approach with strong profitability, controlled risk, and consistent execution across multiple instruments.</a:t>
            </a:r>
          </a:p>
          <a:p>
            <a:pPr algn="l">
              <a:lnSpc>
                <a:spcPts val="2947"/>
              </a:lnSpc>
            </a:pPr>
            <a:endParaRPr lang="en-US" sz="21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1400" y="2781300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26346" y="2052444"/>
            <a:ext cx="4272775" cy="2749191"/>
          </a:xfrm>
          <a:custGeom>
            <a:avLst/>
            <a:gdLst/>
            <a:ahLst/>
            <a:cxnLst/>
            <a:rect l="l" t="t" r="r" b="b"/>
            <a:pathLst>
              <a:path w="4272775" h="2749191">
                <a:moveTo>
                  <a:pt x="0" y="0"/>
                </a:moveTo>
                <a:lnTo>
                  <a:pt x="4272775" y="0"/>
                </a:lnTo>
                <a:lnTo>
                  <a:pt x="4272775" y="2749191"/>
                </a:lnTo>
                <a:lnTo>
                  <a:pt x="0" y="27491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2054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347738" y="2461381"/>
            <a:ext cx="11265969" cy="602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Win Rate (58.9%) – More than half of trades are profitable, showing a consistent edge.</a:t>
            </a:r>
          </a:p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Trade Distribution – Winning trades (589) exceed losing trades (411), confirming strategy reliability.</a:t>
            </a:r>
          </a:p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Risk–Reward Advantage – Average win (+148.69) is larger than average loss (−101.70).</a:t>
            </a:r>
          </a:p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Monthly Performance – Profits remain positive across most months with no major drawdowns.</a:t>
            </a:r>
          </a:p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Best Month – October delivered the highest profitability, indicating peak performance.</a:t>
            </a:r>
          </a:p>
          <a:p>
            <a:pPr marL="474978" lvl="1" indent="-237489" algn="l">
              <a:lnSpc>
                <a:spcPct val="150000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Stability – Month-to-month fluctuations are controlled, reflecting disciplined risk management.</a:t>
            </a:r>
          </a:p>
          <a:p>
            <a:pPr algn="l">
              <a:lnSpc>
                <a:spcPct val="150000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ct val="150000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ct val="150000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47738" y="1717101"/>
            <a:ext cx="5187592" cy="61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85957" y="2956755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8879" y="2867439"/>
            <a:ext cx="10475780" cy="675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Mid-week performance is strongest, with Wednesday and Saturday generating the highest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Trade frequency does not guarantee profitability — days with more trades sometimes produced lower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Tuesday shows the weakest performance, contributing the lowest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among weekdays.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GBPUSD and BTCUSD are the biggest loss contributors, dominating the bottom trades list.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Bearish market bias outperforms bullish and neutral, delivering the highest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overall.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BTCUSD is the top-performing instrument, followed by EURUSD and XAUUSD.</a:t>
            </a:r>
          </a:p>
          <a:p>
            <a:pPr marL="474978" lvl="1" indent="-237489" algn="l">
              <a:lnSpc>
                <a:spcPts val="3805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Losses are concentrated in fewer symbols, indicating risk is not evenly distributed across instruments.</a:t>
            </a:r>
          </a:p>
          <a:p>
            <a:pPr algn="l">
              <a:lnSpc>
                <a:spcPts val="3805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027635" y="2176189"/>
            <a:ext cx="6260365" cy="5934622"/>
          </a:xfrm>
          <a:custGeom>
            <a:avLst/>
            <a:gdLst/>
            <a:ahLst/>
            <a:cxnLst/>
            <a:rect l="l" t="t" r="r" b="b"/>
            <a:pathLst>
              <a:path w="6260365" h="5934622">
                <a:moveTo>
                  <a:pt x="0" y="0"/>
                </a:moveTo>
                <a:lnTo>
                  <a:pt x="6260365" y="0"/>
                </a:lnTo>
                <a:lnTo>
                  <a:pt x="6260365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253925" y="2183906"/>
            <a:ext cx="5187592" cy="61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 dirty="0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879" y="1433913"/>
            <a:ext cx="587564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Detailed analysis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43836" y="1510113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5236" y="2795394"/>
            <a:ext cx="3723705" cy="2658419"/>
          </a:xfrm>
          <a:custGeom>
            <a:avLst/>
            <a:gdLst/>
            <a:ahLst/>
            <a:cxnLst/>
            <a:rect l="l" t="t" r="r" b="b"/>
            <a:pathLst>
              <a:path w="3723705" h="2658419">
                <a:moveTo>
                  <a:pt x="0" y="0"/>
                </a:moveTo>
                <a:lnTo>
                  <a:pt x="3723706" y="0"/>
                </a:lnTo>
                <a:lnTo>
                  <a:pt x="3723706" y="2658419"/>
                </a:lnTo>
                <a:lnTo>
                  <a:pt x="0" y="2658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3215236" y="6377748"/>
            <a:ext cx="3723705" cy="2705505"/>
          </a:xfrm>
          <a:custGeom>
            <a:avLst/>
            <a:gdLst/>
            <a:ahLst/>
            <a:cxnLst/>
            <a:rect l="l" t="t" r="r" b="b"/>
            <a:pathLst>
              <a:path w="3723705" h="2705505">
                <a:moveTo>
                  <a:pt x="0" y="0"/>
                </a:moveTo>
                <a:lnTo>
                  <a:pt x="3723706" y="0"/>
                </a:lnTo>
                <a:lnTo>
                  <a:pt x="3723706" y="2705504"/>
                </a:lnTo>
                <a:lnTo>
                  <a:pt x="0" y="27055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188879" y="3416488"/>
            <a:ext cx="12026357" cy="25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Engulfing is the most profitable entry signal, generating the highest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Pin Bar performs consistently well, closely following Engulfing in overall profitability.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Break &amp; Retest delivers moderate returns, but lags behind price-action based signals.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Simple price-action signals outperform complex setups, indicating better clarity and execution.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Focusing on Engulfing and Pin Bar setups can improve overall expectancy.</a:t>
            </a: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0170" y="2212401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 according entry signals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8879" y="1433913"/>
            <a:ext cx="587564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Detailed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879" y="6583313"/>
            <a:ext cx="11719596" cy="25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Trending markets deliver the highest profitability, showing clear directional edge.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Volatile conditions perform strongly, but slightly below trending markets.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Ranging markets generate the lowest returns, indicating reduced edge in sideways price action.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Strategy performs best when aligned with market direction, not consolidation.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Filtering trades to trending conditions can significantly improve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0170" y="5588352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 according market conditions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54887" y="2198882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5236" y="2795394"/>
            <a:ext cx="3632531" cy="2594665"/>
          </a:xfrm>
          <a:custGeom>
            <a:avLst/>
            <a:gdLst/>
            <a:ahLst/>
            <a:cxnLst/>
            <a:rect l="l" t="t" r="r" b="b"/>
            <a:pathLst>
              <a:path w="3632531" h="2594665">
                <a:moveTo>
                  <a:pt x="0" y="0"/>
                </a:moveTo>
                <a:lnTo>
                  <a:pt x="3632531" y="0"/>
                </a:lnTo>
                <a:lnTo>
                  <a:pt x="3632531" y="2594665"/>
                </a:lnTo>
                <a:lnTo>
                  <a:pt x="0" y="2594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13215236" y="5873586"/>
            <a:ext cx="3723705" cy="2665288"/>
          </a:xfrm>
          <a:custGeom>
            <a:avLst/>
            <a:gdLst/>
            <a:ahLst/>
            <a:cxnLst/>
            <a:rect l="l" t="t" r="r" b="b"/>
            <a:pathLst>
              <a:path w="3723705" h="2665288">
                <a:moveTo>
                  <a:pt x="0" y="0"/>
                </a:moveTo>
                <a:lnTo>
                  <a:pt x="3723706" y="0"/>
                </a:lnTo>
                <a:lnTo>
                  <a:pt x="3723706" y="2665288"/>
                </a:lnTo>
                <a:lnTo>
                  <a:pt x="0" y="26652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188879" y="3416488"/>
            <a:ext cx="12026357" cy="25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Intraday trading generates the highest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, showing strongest consistency.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Scalping performs well, but slightly underperforms intraday trades.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Swing trading delivers the lowest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, indicating slower capital efficiency.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Short-term trading styles outperform longer holding periods.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Focus on intraday setups can maximize overall profitability.</a:t>
            </a: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50170" y="2212401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 according type of trade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8879" y="1433913"/>
            <a:ext cx="587564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Detailed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8879" y="6583313"/>
            <a:ext cx="11719596" cy="258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Trending markets deliver the highest profitability, showing clear directional edge.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Volatile conditions perform strongly, but slightly below trending markets.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Ranging markets generate the lowest returns, indicating reduced edge in sideways price action.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Strategy performs best when aligned with market direction, not consolidation.</a:t>
            </a:r>
          </a:p>
          <a:p>
            <a:pPr marL="474978" lvl="1" indent="-237489" algn="l">
              <a:lnSpc>
                <a:spcPts val="2947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Filtering trades to trending conditions can significantly improve Net </a:t>
            </a:r>
            <a:r>
              <a:rPr lang="en-US" sz="219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2947"/>
              </a:lnSpc>
            </a:pPr>
            <a:endParaRPr lang="en-US" sz="219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0170" y="5423279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Insights according sessions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83505" y="1851425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76908" y="2795394"/>
            <a:ext cx="5438413" cy="3287910"/>
          </a:xfrm>
          <a:custGeom>
            <a:avLst/>
            <a:gdLst/>
            <a:ahLst/>
            <a:cxnLst/>
            <a:rect l="l" t="t" r="r" b="b"/>
            <a:pathLst>
              <a:path w="5438413" h="3287910">
                <a:moveTo>
                  <a:pt x="0" y="0"/>
                </a:moveTo>
                <a:lnTo>
                  <a:pt x="5438413" y="0"/>
                </a:lnTo>
                <a:lnTo>
                  <a:pt x="5438413" y="3287910"/>
                </a:lnTo>
                <a:lnTo>
                  <a:pt x="0" y="3287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6273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188879" y="3291155"/>
            <a:ext cx="11088029" cy="6686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The calendar highlights daily Net </a:t>
            </a:r>
            <a:r>
              <a:rPr lang="en-US" sz="2197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 distribution across the selected month.</a:t>
            </a:r>
          </a:p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Consistent profitability is visible on multiple mid-month trading days.</a:t>
            </a:r>
          </a:p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Losses are isolated to specific dates, indicating controlled drawdowns rather than prolonged losing streaks.</a:t>
            </a:r>
          </a:p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Performance shows no continuous loss clusters, reflecting disciplined risk management.</a:t>
            </a:r>
          </a:p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Strong days are spread across different weeks, suggesting strategy robustness rather than luck.</a:t>
            </a:r>
          </a:p>
          <a:p>
            <a:pPr marL="474542" lvl="1" indent="-237271" algn="l">
              <a:lnSpc>
                <a:spcPts val="4439"/>
              </a:lnSpc>
              <a:buFont typeface="Arial"/>
              <a:buChar char="•"/>
            </a:pPr>
            <a:r>
              <a:rPr lang="en-US" sz="2197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The visual calendar enables quick identification of high- and low-performance days for better trade planning.</a:t>
            </a:r>
          </a:p>
          <a:p>
            <a:pPr algn="l">
              <a:lnSpc>
                <a:spcPts val="4439"/>
              </a:lnSpc>
            </a:pPr>
            <a:endParaRPr lang="en-US" sz="2197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439"/>
              </a:lnSpc>
            </a:pPr>
            <a:endParaRPr lang="en-US" sz="2197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50170" y="2212401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Day wise  performance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8879" y="1433913"/>
            <a:ext cx="5875640" cy="83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0"/>
              </a:lnSpc>
            </a:pPr>
            <a:r>
              <a:rPr lang="en-US" sz="5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Detailed analysis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16168" y="1789664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9058" y="2293380"/>
            <a:ext cx="16070421" cy="854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2"/>
              </a:lnSpc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1. Optimize Trading Days Based on Performance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Increase focus on days with consistently higher Net </a:t>
            </a:r>
            <a:r>
              <a:rPr lang="en-US" sz="2939" dirty="0" err="1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PnL</a:t>
            </a: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Reduce or avoid aggressive trading on historically weak days.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Use day-wise performance to plan weekly trade allocation.</a:t>
            </a:r>
          </a:p>
          <a:p>
            <a:pPr algn="l">
              <a:lnSpc>
                <a:spcPts val="4762"/>
              </a:lnSpc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2. Strengthen Risk Management on Low-Performing Days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Apply tighter stop-loss rules on loss-prone days.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Reduce position size when market conditions align with past drawdowns.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Protect overall equity by limiting exposure on volatile days.</a:t>
            </a:r>
          </a:p>
          <a:p>
            <a:pPr algn="l">
              <a:lnSpc>
                <a:spcPts val="4762"/>
              </a:lnSpc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3. Leverage Calendar Insights for Trade Planning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Use the calendar view to identify profitable trading patterns.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Align trade execution with historically strong weekdays.</a:t>
            </a:r>
          </a:p>
          <a:p>
            <a:pPr marL="1269395" lvl="2" indent="-423132" algn="l">
              <a:lnSpc>
                <a:spcPts val="4762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Avoid overtrading on days showing repeated negative performance.</a:t>
            </a:r>
          </a:p>
          <a:p>
            <a:pPr algn="l">
              <a:lnSpc>
                <a:spcPts val="4762"/>
              </a:lnSpc>
            </a:pPr>
            <a:endParaRPr lang="en-US" sz="293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62"/>
              </a:lnSpc>
            </a:pPr>
            <a:endParaRPr lang="en-US" sz="293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49058" y="1738961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 dirty="0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</a:t>
            </a:r>
          </a:p>
          <a:p>
            <a:pPr algn="l">
              <a:lnSpc>
                <a:spcPts val="3959"/>
              </a:lnSpc>
            </a:pPr>
            <a:endParaRPr lang="en-US" sz="3700" b="1" dirty="0">
              <a:solidFill>
                <a:srgbClr val="5CE1E6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35480" y="1991526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9058" y="2398003"/>
            <a:ext cx="16070421" cy="765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7"/>
              </a:lnSpc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4. Maintain Consistent Strategy Execution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Continue using setups that show steady profitability across days.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Avoid unnecessary strategy changes during short-term drawdowns.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Focus on execution quality rather than trade quantity</a:t>
            </a:r>
          </a:p>
          <a:p>
            <a:pPr algn="l">
              <a:lnSpc>
                <a:spcPts val="5497"/>
              </a:lnSpc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5. Continuous Performance Review &amp; Optimization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Review day-wise performance monthly to detect pattern shifts.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Refine strategies based on evolving market behavior.</a:t>
            </a:r>
          </a:p>
          <a:p>
            <a:pPr marL="1269395" lvl="2" indent="-423132" algn="l">
              <a:lnSpc>
                <a:spcPts val="5497"/>
              </a:lnSpc>
              <a:buFont typeface="Arial"/>
              <a:buChar char="⚬"/>
            </a:pPr>
            <a:r>
              <a:rPr lang="en-US" sz="2939" dirty="0">
                <a:solidFill>
                  <a:srgbClr val="FFFFFF"/>
                </a:solidFill>
                <a:latin typeface="Bahnschrift SemiBold" panose="020B0502040204020203" pitchFamily="34" charset="0"/>
                <a:ea typeface="Open Sans"/>
                <a:cs typeface="Open Sans"/>
                <a:sym typeface="Open Sans"/>
              </a:rPr>
              <a:t>Use insights to make data-driven improvements, not emotional decisions.</a:t>
            </a:r>
          </a:p>
          <a:p>
            <a:pPr algn="l">
              <a:lnSpc>
                <a:spcPts val="5497"/>
              </a:lnSpc>
            </a:pPr>
            <a:endParaRPr lang="en-US" sz="293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497"/>
              </a:lnSpc>
            </a:pPr>
            <a:endParaRPr lang="en-US" sz="293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  <a:p>
            <a:pPr algn="l">
              <a:lnSpc>
                <a:spcPts val="5497"/>
              </a:lnSpc>
            </a:pPr>
            <a:endParaRPr lang="en-US" sz="2939" dirty="0">
              <a:solidFill>
                <a:srgbClr val="FFFFFF"/>
              </a:solidFill>
              <a:latin typeface="Bahnschrift SemiBold" panose="020B0502040204020203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49058" y="1708570"/>
            <a:ext cx="5187592" cy="11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Recommendation</a:t>
            </a:r>
          </a:p>
          <a:p>
            <a:pPr algn="l">
              <a:lnSpc>
                <a:spcPts val="3959"/>
              </a:lnSpc>
            </a:pPr>
            <a:endParaRPr lang="en-US" sz="3700" b="1">
              <a:solidFill>
                <a:srgbClr val="5CE1E6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91825" y="2066501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8295474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6938942" y="1028700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058" y="-1198728"/>
            <a:ext cx="6693556" cy="2227428"/>
          </a:xfrm>
          <a:custGeom>
            <a:avLst/>
            <a:gdLst/>
            <a:ahLst/>
            <a:cxnLst/>
            <a:rect l="l" t="t" r="r" b="b"/>
            <a:pathLst>
              <a:path w="6693556" h="2227428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36878" y="2303759"/>
            <a:ext cx="5619390" cy="3540216"/>
          </a:xfrm>
          <a:custGeom>
            <a:avLst/>
            <a:gdLst/>
            <a:ahLst/>
            <a:cxnLst/>
            <a:rect l="l" t="t" r="r" b="b"/>
            <a:pathLst>
              <a:path w="5619390" h="3540216">
                <a:moveTo>
                  <a:pt x="0" y="0"/>
                </a:moveTo>
                <a:lnTo>
                  <a:pt x="5619390" y="0"/>
                </a:lnTo>
                <a:lnTo>
                  <a:pt x="5619390" y="3540215"/>
                </a:lnTo>
                <a:lnTo>
                  <a:pt x="0" y="35402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81200" y="2248522"/>
            <a:ext cx="5206200" cy="3540216"/>
          </a:xfrm>
          <a:custGeom>
            <a:avLst/>
            <a:gdLst/>
            <a:ahLst/>
            <a:cxnLst/>
            <a:rect l="l" t="t" r="r" b="b"/>
            <a:pathLst>
              <a:path w="5206200" h="3540216">
                <a:moveTo>
                  <a:pt x="0" y="0"/>
                </a:moveTo>
                <a:lnTo>
                  <a:pt x="5206200" y="0"/>
                </a:lnTo>
                <a:lnTo>
                  <a:pt x="5206200" y="3540215"/>
                </a:lnTo>
                <a:lnTo>
                  <a:pt x="0" y="35402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>
            <a:off x="2005781" y="5970759"/>
            <a:ext cx="4879604" cy="3738996"/>
          </a:xfrm>
          <a:custGeom>
            <a:avLst/>
            <a:gdLst/>
            <a:ahLst/>
            <a:cxnLst/>
            <a:rect l="l" t="t" r="r" b="b"/>
            <a:pathLst>
              <a:path w="4879604" h="3738996">
                <a:moveTo>
                  <a:pt x="0" y="0"/>
                </a:moveTo>
                <a:lnTo>
                  <a:pt x="4879604" y="0"/>
                </a:lnTo>
                <a:lnTo>
                  <a:pt x="4879604" y="3738997"/>
                </a:lnTo>
                <a:lnTo>
                  <a:pt x="0" y="3738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29472" y="6323157"/>
            <a:ext cx="5780078" cy="3764276"/>
          </a:xfrm>
          <a:custGeom>
            <a:avLst/>
            <a:gdLst/>
            <a:ahLst/>
            <a:cxnLst/>
            <a:rect l="l" t="t" r="r" b="b"/>
            <a:pathLst>
              <a:path w="5780078" h="3764276">
                <a:moveTo>
                  <a:pt x="0" y="0"/>
                </a:moveTo>
                <a:lnTo>
                  <a:pt x="5780078" y="0"/>
                </a:lnTo>
                <a:lnTo>
                  <a:pt x="5780078" y="3764276"/>
                </a:lnTo>
                <a:lnTo>
                  <a:pt x="0" y="3764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1347738" y="1452963"/>
            <a:ext cx="5187592" cy="613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700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Dashboards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77476" y="2903880"/>
            <a:ext cx="8733048" cy="425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6"/>
              </a:lnSpc>
            </a:pPr>
            <a:r>
              <a:rPr lang="en-US" sz="13997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</a:t>
            </a:r>
          </a:p>
          <a:p>
            <a:pPr algn="ctr">
              <a:lnSpc>
                <a:spcPts val="14976"/>
              </a:lnSpc>
            </a:pPr>
            <a:r>
              <a:rPr lang="en-US" sz="13997" b="1">
                <a:solidFill>
                  <a:srgbClr val="5CE1E6"/>
                </a:solidFill>
                <a:latin typeface="Agrandir Bold"/>
                <a:ea typeface="Agrandir Bold"/>
                <a:cs typeface="Agrandir Bold"/>
                <a:sym typeface="Agrandir Bold"/>
              </a:rPr>
              <a:t>YOU.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52072" y="8778875"/>
            <a:ext cx="4183857" cy="47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9"/>
              </a:lnSpc>
            </a:pPr>
            <a:r>
              <a:rPr lang="en-US" sz="2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www.reallygreatsite.com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1349934" y="707466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 flipH="1" flipV="1">
            <a:off x="16617708" y="8587367"/>
            <a:ext cx="320358" cy="962826"/>
          </a:xfrm>
          <a:custGeom>
            <a:avLst/>
            <a:gdLst/>
            <a:ahLst/>
            <a:cxnLst/>
            <a:rect l="l" t="t" r="r" b="b"/>
            <a:pathLst>
              <a:path w="320358" h="962826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47800" y="3795001"/>
            <a:ext cx="8513313" cy="8513313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>
            <a:off x="12039817" y="-1147762"/>
            <a:ext cx="7695983" cy="7870375"/>
          </a:xfrm>
          <a:custGeom>
            <a:avLst/>
            <a:gdLst/>
            <a:ahLst/>
            <a:cxnLst/>
            <a:rect l="l" t="t" r="r" b="b"/>
            <a:pathLst>
              <a:path w="8513313" h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1003</Words>
  <Application>Microsoft Office PowerPoint</Application>
  <PresentationFormat>Custom</PresentationFormat>
  <Paragraphs>103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Agrandir Bold</vt:lpstr>
      <vt:lpstr>Open Sans Bold</vt:lpstr>
      <vt:lpstr>Bahnschrift SemiBold</vt:lpstr>
      <vt:lpstr>Agrandir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Black Modern Bold Black Gradient Geometric Shape Stock Market Presentation</dc:title>
  <cp:lastModifiedBy>Niloy saha</cp:lastModifiedBy>
  <cp:revision>4</cp:revision>
  <dcterms:created xsi:type="dcterms:W3CDTF">2006-08-16T00:00:00Z</dcterms:created>
  <dcterms:modified xsi:type="dcterms:W3CDTF">2026-02-08T17:10:53Z</dcterms:modified>
  <dc:identifier>DAHAhomkvgc</dc:identifier>
</cp:coreProperties>
</file>